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joiBvq0BPAiLXq2zLBDcB6346o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E010FE-F8EF-4458-9A0F-83083623CD11}">
  <a:tblStyle styleId="{23E010FE-F8EF-4458-9A0F-83083623CD1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7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7" y="8829675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1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2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3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8c13771faa_0_6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8c13771faa_0_6:notes"/>
          <p:cNvSpPr/>
          <p:nvPr>
            <p:ph idx="2" type="sldImg"/>
          </p:nvPr>
        </p:nvSpPr>
        <p:spPr>
          <a:xfrm>
            <a:off x="1181100" y="696912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8c13771faa_0_0:notes"/>
          <p:cNvSpPr txBox="1"/>
          <p:nvPr>
            <p:ph idx="1" type="body"/>
          </p:nvPr>
        </p:nvSpPr>
        <p:spPr>
          <a:xfrm>
            <a:off x="701675" y="4416425"/>
            <a:ext cx="5607000" cy="41832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28c13771faa_0_0:notes"/>
          <p:cNvSpPr/>
          <p:nvPr>
            <p:ph idx="2" type="sldImg"/>
          </p:nvPr>
        </p:nvSpPr>
        <p:spPr>
          <a:xfrm>
            <a:off x="1181100" y="696912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5" name="Google Shape;295;p34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4:notes"/>
          <p:cNvSpPr txBox="1"/>
          <p:nvPr/>
        </p:nvSpPr>
        <p:spPr>
          <a:xfrm>
            <a:off x="3970337" y="8829675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5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5" name="Google Shape;305;p35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5:notes"/>
          <p:cNvSpPr txBox="1"/>
          <p:nvPr/>
        </p:nvSpPr>
        <p:spPr>
          <a:xfrm>
            <a:off x="3970337" y="8829675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7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8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8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3" name="Google Shape;43;p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9" name="Google Shape;49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0" name="Google Shape;50;p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5" name="Google Shape;65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6" name="Google Shape;66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7" name="Google Shape;67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8" name="Google Shape;68;p4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4" name="Google Shape;74;p4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5" name="Google Shape;75;p4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81" name="Google Shape;81;p5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Forest of S.T. Shrew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nhdfl.org/library/images/photo-index/SAGA_09a.JP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143000"/>
            <a:ext cx="7572375" cy="5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squirrel</a:t>
            </a:r>
            <a:endParaRPr/>
          </a:p>
        </p:txBody>
      </p:sp>
      <p:pic>
        <p:nvPicPr>
          <p:cNvPr descr="https://upload.wikimedia.org/wikipedia/commons/1/10/Douglas_Squirrel_Lake_Forest_CA.jpg"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295400"/>
            <a:ext cx="6781800" cy="50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Shrew</a:t>
            </a:r>
            <a:endParaRPr/>
          </a:p>
        </p:txBody>
      </p:sp>
      <p:pic>
        <p:nvPicPr>
          <p:cNvPr descr="etruscan_shrew_001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9200"/>
            <a:ext cx="6934200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0137" y="4572000"/>
            <a:ext cx="2963862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imeglobalspin.files.wordpress.com/2012/12/int-soil-1213.jpg?w=480&amp;h=320&amp;crop=1"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914400"/>
            <a:ext cx="8229600" cy="55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819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 the Ground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Earth worm</a:t>
            </a:r>
            <a:endParaRPr/>
          </a:p>
        </p:txBody>
      </p:sp>
      <p:pic>
        <p:nvPicPr>
          <p:cNvPr descr="earthworm"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9438" y="1259500"/>
            <a:ext cx="6585125" cy="501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beetles</a:t>
            </a:r>
            <a:endParaRPr/>
          </a:p>
        </p:txBody>
      </p:sp>
      <p:pic>
        <p:nvPicPr>
          <p:cNvPr descr="http://www.omafra.gov.on.ca/IPM/images/beneficials/ground-beetles/apples_ground-beetle_01_zoom.jpg"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676400"/>
            <a:ext cx="6389687" cy="4583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Grub worm</a:t>
            </a:r>
            <a:endParaRPr/>
          </a:p>
        </p:txBody>
      </p:sp>
      <p:pic>
        <p:nvPicPr>
          <p:cNvPr descr="white_grub"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524000"/>
            <a:ext cx="6186487" cy="4932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Many other organisms</a:t>
            </a:r>
            <a:endParaRPr/>
          </a:p>
        </p:txBody>
      </p:sp>
      <p:pic>
        <p:nvPicPr>
          <p:cNvPr descr="http://www.senckenberg.de/images/content/forschung/abteilung/bodenzoologie/bodenprofil_mit_tierleiste.jpg"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05000"/>
            <a:ext cx="84328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Carrion beetle</a:t>
            </a:r>
            <a:endParaRPr/>
          </a:p>
        </p:txBody>
      </p:sp>
      <p:pic>
        <p:nvPicPr>
          <p:cNvPr descr="Carrion%20Beetle_big"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219200"/>
            <a:ext cx="8382000" cy="538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images.fineartamerica.com/images-medium-large-5/leaves-on-ground-leones-photo-creations.jpg"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572500" cy="64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 txBox="1"/>
          <p:nvPr>
            <p:ph type="title"/>
          </p:nvPr>
        </p:nvSpPr>
        <p:spPr>
          <a:xfrm>
            <a:off x="457200" y="2971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On the surface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Brown spider</a:t>
            </a:r>
            <a:endParaRPr/>
          </a:p>
        </p:txBody>
      </p:sp>
      <p:pic>
        <p:nvPicPr>
          <p:cNvPr descr="Spider_Dignams_Creek_01" id="154" name="Google Shape;1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219200"/>
            <a:ext cx="6781800" cy="5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centipede</a:t>
            </a:r>
            <a:endParaRPr/>
          </a:p>
        </p:txBody>
      </p:sp>
      <p:pic>
        <p:nvPicPr>
          <p:cNvPr descr="VietnameseCentipedeWHSp_AP7I"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544637"/>
            <a:ext cx="6858000" cy="5110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Moss growing on log</a:t>
            </a:r>
            <a:endParaRPr/>
          </a:p>
        </p:txBody>
      </p:sp>
      <p:pic>
        <p:nvPicPr>
          <p:cNvPr descr="s-dsc018155" id="166" name="Google Shape;1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181100"/>
            <a:ext cx="5487987" cy="56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Orange fungi</a:t>
            </a:r>
            <a:endParaRPr/>
          </a:p>
        </p:txBody>
      </p:sp>
      <p:pic>
        <p:nvPicPr>
          <p:cNvPr descr="fungi0012" id="172" name="Google Shape;1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600200"/>
            <a:ext cx="6553200" cy="49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Red capped lichen</a:t>
            </a:r>
            <a:endParaRPr/>
          </a:p>
        </p:txBody>
      </p:sp>
      <p:pic>
        <p:nvPicPr>
          <p:cNvPr descr="lichen1a" id="178" name="Google Shape;1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684337"/>
            <a:ext cx="6019800" cy="49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millipede</a:t>
            </a:r>
            <a:endParaRPr/>
          </a:p>
        </p:txBody>
      </p:sp>
      <p:pic>
        <p:nvPicPr>
          <p:cNvPr descr="millipede"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9800"/>
            <a:ext cx="9144000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Wood roach</a:t>
            </a:r>
            <a:endParaRPr/>
          </a:p>
        </p:txBody>
      </p:sp>
      <p:pic>
        <p:nvPicPr>
          <p:cNvPr descr="PAWoodRoachL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752600"/>
            <a:ext cx="5610225" cy="48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termites</a:t>
            </a:r>
            <a:endParaRPr/>
          </a:p>
        </p:txBody>
      </p:sp>
      <p:pic>
        <p:nvPicPr>
          <p:cNvPr descr="termites02_manhattan_exterminator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828800"/>
            <a:ext cx="5715000" cy="47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Pill bug</a:t>
            </a:r>
            <a:endParaRPr/>
          </a:p>
        </p:txBody>
      </p:sp>
      <p:pic>
        <p:nvPicPr>
          <p:cNvPr descr="pill%20bu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600200"/>
            <a:ext cx="4648200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Black Beetle</a:t>
            </a:r>
            <a:endParaRPr/>
          </a:p>
        </p:txBody>
      </p:sp>
      <p:pic>
        <p:nvPicPr>
          <p:cNvPr descr="kali0011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752600"/>
            <a:ext cx="6858000" cy="460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centipede</a:t>
            </a:r>
            <a:endParaRPr/>
          </a:p>
        </p:txBody>
      </p:sp>
      <p:pic>
        <p:nvPicPr>
          <p:cNvPr descr="VietnameseCentipedeWHSp_AP7I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544637"/>
            <a:ext cx="6858000" cy="5110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salamander</a:t>
            </a:r>
            <a:endParaRPr/>
          </a:p>
        </p:txBody>
      </p:sp>
      <p:pic>
        <p:nvPicPr>
          <p:cNvPr descr="Arboreal Salamander (Aneides lugubris)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76400"/>
            <a:ext cx="7467600" cy="49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Black capped bird</a:t>
            </a:r>
            <a:endParaRPr/>
          </a:p>
        </p:txBody>
      </p:sp>
      <p:pic>
        <p:nvPicPr>
          <p:cNvPr descr="http://2.bp.blogspot.com/_Up9ObhFgF0U/TTUt485LjBI/AAAAAAAAAJc/IOF2NA435jE/s1600/Black-Capped+Chickadee+bird+picture.jpg"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752600"/>
            <a:ext cx="6953250" cy="46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grasshopper</a:t>
            </a:r>
            <a:endParaRPr/>
          </a:p>
        </p:txBody>
      </p:sp>
      <p:pic>
        <p:nvPicPr>
          <p:cNvPr descr="americanbirdgrasshopper"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466850"/>
            <a:ext cx="6477000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bugs</a:t>
            </a:r>
            <a:endParaRPr/>
          </a:p>
        </p:txBody>
      </p:sp>
      <p:pic>
        <p:nvPicPr>
          <p:cNvPr descr="9-flowers-bugs-leaves"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00200"/>
            <a:ext cx="66675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wasp</a:t>
            </a:r>
            <a:endParaRPr/>
          </a:p>
        </p:txBody>
      </p:sp>
      <p:pic>
        <p:nvPicPr>
          <p:cNvPr descr="wasp-0071" id="244" name="Google Shape;2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600200"/>
            <a:ext cx="6629400" cy="4967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fly</a:t>
            </a:r>
            <a:endParaRPr/>
          </a:p>
        </p:txBody>
      </p:sp>
      <p:pic>
        <p:nvPicPr>
          <p:cNvPr descr="index" id="250" name="Google Shape;2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76400"/>
            <a:ext cx="6896100" cy="4941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caterpillar</a:t>
            </a:r>
            <a:endParaRPr/>
          </a:p>
        </p:txBody>
      </p:sp>
      <p:pic>
        <p:nvPicPr>
          <p:cNvPr descr="Papilio_machaon_caterpillar" id="256" name="Google Shape;25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371600"/>
            <a:ext cx="62484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ants</a:t>
            </a:r>
            <a:endParaRPr/>
          </a:p>
        </p:txBody>
      </p:sp>
      <p:pic>
        <p:nvPicPr>
          <p:cNvPr descr="kali0027" id="262" name="Google Shape;2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485900"/>
            <a:ext cx="3887787" cy="53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spiders</a:t>
            </a:r>
            <a:endParaRPr/>
          </a:p>
        </p:txBody>
      </p:sp>
      <p:pic>
        <p:nvPicPr>
          <p:cNvPr descr="spiders-tree_1007234i" id="268" name="Google Shape;26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828800"/>
            <a:ext cx="6896100" cy="444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moth</a:t>
            </a:r>
            <a:endParaRPr/>
          </a:p>
        </p:txBody>
      </p:sp>
      <p:pic>
        <p:nvPicPr>
          <p:cNvPr descr="moth camouflaged on tree bark" id="274" name="Google Shape;2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981200"/>
            <a:ext cx="541020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2"/>
          <p:cNvSpPr/>
          <p:nvPr/>
        </p:nvSpPr>
        <p:spPr>
          <a:xfrm>
            <a:off x="3352800" y="3200400"/>
            <a:ext cx="2133600" cy="1828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Lichen and moss</a:t>
            </a:r>
            <a:endParaRPr/>
          </a:p>
        </p:txBody>
      </p:sp>
      <p:pic>
        <p:nvPicPr>
          <p:cNvPr descr="Moss_Lichen" id="281" name="Google Shape;28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524000"/>
            <a:ext cx="5924550" cy="5078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imeglobalspin.files.wordpress.com/2012/12/int-soil-1213.jpg?w=480&amp;h=320&amp;crop=1" id="286" name="Google Shape;286;g28c13771faa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914400"/>
            <a:ext cx="8229600" cy="55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8c13771faa_0_6"/>
          <p:cNvSpPr txBox="1"/>
          <p:nvPr>
            <p:ph type="title"/>
          </p:nvPr>
        </p:nvSpPr>
        <p:spPr>
          <a:xfrm>
            <a:off x="457200" y="2819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 the Ground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nhdfl.org/library/images/photo-index/SAGA_09a.JPG" id="292" name="Google Shape;292;g28c13771fa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143000"/>
            <a:ext cx="7572374" cy="5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 txBox="1"/>
          <p:nvPr>
            <p:ph idx="1" type="body"/>
          </p:nvPr>
        </p:nvSpPr>
        <p:spPr>
          <a:xfrm>
            <a:off x="385762" y="1489075"/>
            <a:ext cx="8610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place where an organism lives;  	</a:t>
            </a:r>
            <a:r>
              <a:rPr b="0" i="1" lang="en-US" sz="32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(habitat = home)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habitat must include all characteristics that support living things: food, water, shelter.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4"/>
          <p:cNvSpPr txBox="1"/>
          <p:nvPr/>
        </p:nvSpPr>
        <p:spPr>
          <a:xfrm>
            <a:off x="1676400" y="304800"/>
            <a:ext cx="5791200" cy="715962"/>
          </a:xfrm>
          <a:prstGeom prst="rect">
            <a:avLst/>
          </a:prstGeom>
          <a:solidFill>
            <a:srgbClr val="A3C2E0"/>
          </a:solidFill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Comic Sans MS"/>
              <a:buNone/>
            </a:pPr>
            <a:r>
              <a:rPr b="0" i="0" lang="en-US" sz="4400" u="none">
                <a:solidFill>
                  <a:schemeClr val="lt2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What’s a Habitat?</a:t>
            </a:r>
            <a:endParaRPr/>
          </a:p>
        </p:txBody>
      </p:sp>
      <p:pic>
        <p:nvPicPr>
          <p:cNvPr descr="http://www.fws.gov/southwest/refuges/saltplains/images/habitat.jpg" id="300" name="Google Shape;3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7787" y="3657600"/>
            <a:ext cx="3529012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4"/>
          <p:cNvSpPr txBox="1"/>
          <p:nvPr/>
        </p:nvSpPr>
        <p:spPr>
          <a:xfrm>
            <a:off x="228600" y="4038600"/>
            <a:ext cx="46482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Examples:  pond, ocean, forest, prairie</a:t>
            </a:r>
            <a:endParaRPr/>
          </a:p>
        </p:txBody>
      </p:sp>
      <p:sp>
        <p:nvSpPr>
          <p:cNvPr id="302" name="Google Shape;302;p34"/>
          <p:cNvSpPr txBox="1"/>
          <p:nvPr/>
        </p:nvSpPr>
        <p:spPr>
          <a:xfrm>
            <a:off x="15875" y="12700"/>
            <a:ext cx="12192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Copy these notes in your journal.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/>
          <p:nvPr>
            <p:ph type="title"/>
          </p:nvPr>
        </p:nvSpPr>
        <p:spPr>
          <a:xfrm>
            <a:off x="1600200" y="304800"/>
            <a:ext cx="6096000" cy="715962"/>
          </a:xfrm>
          <a:prstGeom prst="rect">
            <a:avLst/>
          </a:prstGeom>
          <a:solidFill>
            <a:srgbClr val="A3C2E0"/>
          </a:solidFill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omic Sans MS"/>
              <a:buNone/>
            </a:pPr>
            <a:r>
              <a:rPr b="0" i="0" lang="en-US" sz="4000" u="none">
                <a:solidFill>
                  <a:schemeClr val="lt2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a Microhabitat?</a:t>
            </a:r>
            <a:endParaRPr/>
          </a:p>
        </p:txBody>
      </p:sp>
      <p:sp>
        <p:nvSpPr>
          <p:cNvPr id="309" name="Google Shape;309;p35"/>
          <p:cNvSpPr txBox="1"/>
          <p:nvPr>
            <p:ph idx="1" type="body"/>
          </p:nvPr>
        </p:nvSpPr>
        <p:spPr>
          <a:xfrm>
            <a:off x="304800" y="14478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microhabitat</a:t>
            </a: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a small habitat within a larger habitat.  </a:t>
            </a:r>
            <a:endParaRPr/>
          </a:p>
        </p:txBody>
      </p:sp>
      <p:sp>
        <p:nvSpPr>
          <p:cNvPr id="310" name="Google Shape;310;p35"/>
          <p:cNvSpPr txBox="1"/>
          <p:nvPr/>
        </p:nvSpPr>
        <p:spPr>
          <a:xfrm>
            <a:off x="4191000" y="5041900"/>
            <a:ext cx="4953000" cy="18161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Micro = Small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Habitat = Home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Micro</a:t>
            </a:r>
            <a:r>
              <a:rPr b="0" i="0" lang="en-US" sz="28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habitat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28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311" name="Google Shape;311;p35"/>
          <p:cNvSpPr txBox="1"/>
          <p:nvPr/>
        </p:nvSpPr>
        <p:spPr>
          <a:xfrm>
            <a:off x="609600" y="2438400"/>
            <a:ext cx="7620000" cy="317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-The temperature, humidity, light and soil may be different from the surrounding habitat.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Examples:  under rocks, soil, anthill, underground burrows, rotting log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2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Non-examples: Forest, ocean, Desert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encrypted-tbn1.gstatic.com/images?q=tbn:ANd9GcQyjOz2J9MsstThq8fmjDLt-QAvxQHMK5hIw7tvlv_6kIGjRzBj" id="312" name="Google Shape;3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14950"/>
            <a:ext cx="20605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encrypted-tbn0.gstatic.com/images?q=tbn:ANd9GcS9DudPTMpXHU--Sp3BKRzerULNCHY1SLko-GhMZ0SW_ySPw12Pow" id="313" name="Google Shape;31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5153025"/>
            <a:ext cx="236220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encrypted-tbn2.gstatic.com/images?q=tbn:ANd9GcSDFGFAdMlRlXWz5Ow48rG0ry88BHRQ8any5pw5dDnjRqroD6nk" id="314" name="Google Shape;31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4662" y="3810000"/>
            <a:ext cx="2319337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How do microhabitats support a variety of organisms? </a:t>
            </a:r>
            <a:endParaRPr/>
          </a:p>
        </p:txBody>
      </p:sp>
      <p:sp>
        <p:nvSpPr>
          <p:cNvPr id="320" name="Google Shape;320;p3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Microhabitats have different abiotic factors: temperature, water, and sunlight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example: Organisms that are found under rocks might not be found on a tree . (Although they could be)  because the abiotic factor are different.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 Your Journal….</a:t>
            </a:r>
            <a:endParaRPr/>
          </a:p>
        </p:txBody>
      </p:sp>
      <p:sp>
        <p:nvSpPr>
          <p:cNvPr id="326" name="Google Shape;326;p3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Reflect on the story of S.T. Shrew: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List 3 microhabitats visited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List the organisms found there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List the factors present to support them</a:t>
            </a:r>
            <a:endParaRPr/>
          </a:p>
        </p:txBody>
      </p:sp>
      <p:graphicFrame>
        <p:nvGraphicFramePr>
          <p:cNvPr id="327" name="Google Shape;327;p37"/>
          <p:cNvGraphicFramePr/>
          <p:nvPr/>
        </p:nvGraphicFramePr>
        <p:xfrm>
          <a:off x="533400" y="3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{23E010FE-F8EF-4458-9A0F-83083623CD11}</a:tableStyleId>
              </a:tblPr>
              <a:tblGrid>
                <a:gridCol w="2590800"/>
                <a:gridCol w="2590800"/>
                <a:gridCol w="2590800"/>
              </a:tblGrid>
              <a:tr h="9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Microhabitat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Organisms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Supporting abiotic factors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DDE"/>
                    </a:solidFill>
                  </a:tcPr>
                </a:tc>
              </a:tr>
              <a:tr h="5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8EF"/>
                    </a:solidFill>
                  </a:tcPr>
                </a:tc>
              </a:tr>
              <a:tr h="5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D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D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Extend your thinking…</a:t>
            </a:r>
            <a:endParaRPr/>
          </a:p>
        </p:txBody>
      </p:sp>
      <p:sp>
        <p:nvSpPr>
          <p:cNvPr id="333" name="Google Shape;333;p3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Identify as many microhabitats that you can think of.  List the types of organisms you would expect to find there and the supporting abiotic factors.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could the loss of particular microhabitats effect the larger habitat?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9">
      <a:dk1>
        <a:srgbClr val="336699"/>
      </a:dk1>
      <a:lt1>
        <a:srgbClr val="FFFFFF"/>
      </a:lt1>
      <a:dk2>
        <a:srgbClr val="000000"/>
      </a:dk2>
      <a:lt2>
        <a:srgbClr val="E3EBF1"/>
      </a:lt2>
      <a:accent1>
        <a:srgbClr val="003399"/>
      </a:accent1>
      <a:accent2>
        <a:srgbClr val="468A4B"/>
      </a:accent2>
      <a:accent3>
        <a:srgbClr val="AAAAAA"/>
      </a:accent3>
      <a:accent4>
        <a:srgbClr val="DADADA"/>
      </a:accent4>
      <a:accent5>
        <a:srgbClr val="AAADCA"/>
      </a:accent5>
      <a:accent6>
        <a:srgbClr val="3F7D43"/>
      </a:accent6>
      <a:hlink>
        <a:srgbClr val="66CCFF"/>
      </a:hlink>
      <a:folHlink>
        <a:srgbClr val="F0E5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2010-09-23T10:49:31Z</dcterms:created>
  <dc:creator>Sean Whitfield</dc:creator>
</cp:coreProperties>
</file>